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00670" y="5929931"/>
            <a:ext cx="10985503" cy="318492"/>
          </a:xfrm>
          <a:prstGeom prst="rect">
            <a:avLst/>
          </a:prstGeom>
        </p:spPr>
        <p:txBody>
          <a:bodyPr lIns="45699" tIns="45699" rIns="45699" bIns="45699"/>
          <a:lstStyle>
            <a:lvl1pPr marL="0" indent="11430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b="1"/>
            </a:lvl1pPr>
            <a:lvl2pPr marL="571500" indent="-254889">
              <a:lnSpc>
                <a:spcPct val="100000"/>
              </a:lnSpc>
              <a:spcBef>
                <a:spcPts val="0"/>
              </a:spcBef>
              <a:buClrTx/>
              <a:buSzPts val="3600"/>
              <a:buFontTx/>
              <a:defRPr sz="1800" b="1"/>
            </a:lvl2pPr>
            <a:lvl3pPr marL="800100" indent="-254889">
              <a:lnSpc>
                <a:spcPct val="100000"/>
              </a:lnSpc>
              <a:spcBef>
                <a:spcPts val="0"/>
              </a:spcBef>
              <a:buClrTx/>
              <a:buSzPts val="3600"/>
              <a:buFontTx/>
              <a:defRPr sz="1800" b="1"/>
            </a:lvl3pPr>
            <a:lvl4pPr marL="1028700" indent="-254889">
              <a:lnSpc>
                <a:spcPct val="100000"/>
              </a:lnSpc>
              <a:spcBef>
                <a:spcPts val="0"/>
              </a:spcBef>
              <a:buClrTx/>
              <a:buSzPts val="3600"/>
              <a:buFontTx/>
              <a:defRPr sz="1800" b="1"/>
            </a:lvl4pPr>
            <a:lvl5pPr marL="1257300" indent="-254889">
              <a:lnSpc>
                <a:spcPct val="100000"/>
              </a:lnSpc>
              <a:spcBef>
                <a:spcPts val="0"/>
              </a:spcBef>
              <a:buClrTx/>
              <a:buSzPts val="3600"/>
              <a:buFontTx/>
              <a:defRPr sz="18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" name="Title Text"/>
          <p:cNvSpPr txBox="1">
            <a:spLocks noGrp="1"/>
          </p:cNvSpPr>
          <p:nvPr>
            <p:ph type="title"/>
          </p:nvPr>
        </p:nvSpPr>
        <p:spPr>
          <a:xfrm>
            <a:off x="603248" y="1287496"/>
            <a:ext cx="10985503" cy="2324102"/>
          </a:xfrm>
          <a:prstGeom prst="rect">
            <a:avLst/>
          </a:prstGeom>
        </p:spPr>
        <p:txBody>
          <a:bodyPr anchor="b"/>
          <a:lstStyle>
            <a:lvl1pPr>
              <a:defRPr sz="5800"/>
            </a:lvl1pPr>
          </a:lstStyle>
          <a:p>
            <a:r>
              <a:t>Title Text</a:t>
            </a:r>
          </a:p>
        </p:txBody>
      </p:sp>
      <p:sp>
        <p:nvSpPr>
          <p:cNvPr id="13" name="Google Shape;12;p2"/>
          <p:cNvSpPr txBox="1">
            <a:spLocks noGrp="1"/>
          </p:cNvSpPr>
          <p:nvPr>
            <p:ph type="body" sz="quarter" idx="21"/>
          </p:nvPr>
        </p:nvSpPr>
        <p:spPr>
          <a:xfrm>
            <a:off x="600671" y="3611595"/>
            <a:ext cx="10985501" cy="952502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14" name="Google Shape;13;p2" descr="Google Shape;13;p2"/>
          <p:cNvPicPr>
            <a:picLocks noChangeAspect="1"/>
          </p:cNvPicPr>
          <p:nvPr/>
        </p:nvPicPr>
        <p:blipFill>
          <a:blip r:embed="rId2"/>
          <a:srcRect t="388" r="85449" b="9056"/>
          <a:stretch>
            <a:fillRect/>
          </a:stretch>
        </p:blipFill>
        <p:spPr>
          <a:xfrm>
            <a:off x="76860" y="-21951"/>
            <a:ext cx="998291" cy="1118115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Google Shape;14;p2" descr="Google Shape;14;p2"/>
          <p:cNvPicPr>
            <a:picLocks noChangeAspect="1"/>
          </p:cNvPicPr>
          <p:nvPr/>
        </p:nvPicPr>
        <p:blipFill>
          <a:blip r:embed="rId2"/>
          <a:srcRect l="50059" r="34355" b="9675"/>
          <a:stretch>
            <a:fillRect/>
          </a:stretch>
        </p:blipFill>
        <p:spPr>
          <a:xfrm>
            <a:off x="11095093" y="106935"/>
            <a:ext cx="824850" cy="860329"/>
          </a:xfrm>
          <a:prstGeom prst="rect">
            <a:avLst/>
          </a:prstGeom>
          <a:ln w="12700">
            <a:miter lim="400000"/>
          </a:ln>
        </p:spPr>
      </p:pic>
      <p:sp>
        <p:nvSpPr>
          <p:cNvPr id="1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8460760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93;p19"/>
          <p:cNvSpPr txBox="1">
            <a:spLocks noGrp="1"/>
          </p:cNvSpPr>
          <p:nvPr>
            <p:ph type="sldNum" sz="quarter" idx="4294967295"/>
          </p:nvPr>
        </p:nvSpPr>
        <p:spPr>
          <a:xfrm>
            <a:off x="6032525" y="6540499"/>
            <a:ext cx="120701" cy="187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>
                <a:effectLst>
                  <a:outerShdw blurRad="12700" dist="12700" dir="6300000" rotWithShape="0">
                    <a:srgbClr val="000000"/>
                  </a:outerShdw>
                </a:effectLst>
              </a:defRPr>
            </a:lvl1pPr>
          </a:lstStyle>
          <a:p>
            <a:fld id="{86CB4B4D-7CA3-9044-876B-883B54F8677D}" type="slidenum">
              <a:rPr/>
              <a:t>1</a:t>
            </a:fld>
            <a:endParaRPr/>
          </a:p>
        </p:txBody>
      </p:sp>
      <p:sp>
        <p:nvSpPr>
          <p:cNvPr id="179" name="Google Shape;94;p19"/>
          <p:cNvSpPr txBox="1"/>
          <p:nvPr/>
        </p:nvSpPr>
        <p:spPr>
          <a:xfrm>
            <a:off x="957554" y="4284268"/>
            <a:ext cx="4267051" cy="9525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>
              <a:lnSpc>
                <a:spcPct val="150000"/>
              </a:lnSpc>
              <a:defRPr sz="3600" b="1">
                <a:effectLst>
                  <a:outerShdw blurRad="12700" dist="12700" dir="6300000" rotWithShape="0">
                    <a:srgbClr val="000000"/>
                  </a:outerShdw>
                </a:effectLst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Tilak Venkat Sai M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192424415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0" name="Google Shape;95;p19"/>
          <p:cNvSpPr txBox="1"/>
          <p:nvPr/>
        </p:nvSpPr>
        <p:spPr>
          <a:xfrm>
            <a:off x="429789" y="43906"/>
            <a:ext cx="10985504" cy="12764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>
            <a:normAutofit/>
          </a:bodyPr>
          <a:lstStyle/>
          <a:p>
            <a:pPr algn="ctr">
              <a:lnSpc>
                <a:spcPct val="80000"/>
              </a:lnSpc>
              <a:defRPr sz="6000" b="1">
                <a:solidFill>
                  <a:srgbClr val="EE23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endParaRPr sz="3000" dirty="0"/>
          </a:p>
        </p:txBody>
      </p:sp>
      <p:sp>
        <p:nvSpPr>
          <p:cNvPr id="181" name="Google Shape;96;p19"/>
          <p:cNvSpPr txBox="1"/>
          <p:nvPr/>
        </p:nvSpPr>
        <p:spPr>
          <a:xfrm>
            <a:off x="7148242" y="3816730"/>
            <a:ext cx="4267051" cy="1566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850" tIns="22850" rIns="22850" bIns="22850">
            <a:normAutofit fontScale="77500" lnSpcReduction="20000"/>
          </a:bodyPr>
          <a:lstStyle/>
          <a:p>
            <a:pPr algn="ctr">
              <a:lnSpc>
                <a:spcPct val="90000"/>
              </a:lnSpc>
              <a:defRPr sz="3600" b="1">
                <a:effectLst>
                  <a:outerShdw blurRad="12700" dist="12700" dir="6300000" rotWithShape="0">
                    <a:srgbClr val="000000"/>
                  </a:outerShdw>
                </a:effectLst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2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</a:t>
            </a:r>
            <a:b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60000"/>
              </a:lnSpc>
              <a:defRPr sz="3600" b="1">
                <a:effectLst>
                  <a:outerShdw blurRad="12700" dist="12700" dir="6300000" rotWithShape="0">
                    <a:srgbClr val="000000"/>
                  </a:outerShdw>
                </a:effectLst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Mayuranathan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  <a:r>
              <a:rPr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algn="ctr">
              <a:lnSpc>
                <a:spcPct val="160000"/>
              </a:lnSpc>
              <a:defRPr sz="3600" b="1">
                <a:effectLst>
                  <a:outerShdw blurRad="12700" dist="12700" dir="6300000" rotWithShape="0">
                    <a:srgbClr val="000000"/>
                  </a:outerShdw>
                </a:effectLst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Professor,</a:t>
            </a:r>
          </a:p>
          <a:p>
            <a:pPr algn="ctr">
              <a:lnSpc>
                <a:spcPct val="160000"/>
              </a:lnSpc>
              <a:defRPr sz="3600" b="1">
                <a:effectLst>
                  <a:outerShdw blurRad="12700" dist="12700" dir="6300000" rotWithShape="0">
                    <a:srgbClr val="000000"/>
                  </a:outerShdw>
                </a:effectLst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SIMATS Engineering</a:t>
            </a:r>
          </a:p>
        </p:txBody>
      </p:sp>
      <p:sp>
        <p:nvSpPr>
          <p:cNvPr id="182" name="Google Shape;92;p19"/>
          <p:cNvSpPr txBox="1"/>
          <p:nvPr/>
        </p:nvSpPr>
        <p:spPr>
          <a:xfrm>
            <a:off x="-513667" y="3816730"/>
            <a:ext cx="4497771" cy="4834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algn="ctr">
              <a:defRPr sz="3600" b="1">
                <a:effectLst>
                  <a:outerShdw blurRad="12700" dist="12700" dir="6300000" rotWithShape="0">
                    <a:srgbClr val="000000"/>
                  </a:outerShdw>
                </a:effectLst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20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Candidate</a:t>
            </a:r>
          </a:p>
        </p:txBody>
      </p:sp>
      <p:pic>
        <p:nvPicPr>
          <p:cNvPr id="2" name="Picture 2" descr="SSE-Computer Science and Engineering">
            <a:extLst>
              <a:ext uri="{FF2B5EF4-FFF2-40B4-BE49-F238E27FC236}">
                <a16:creationId xmlns:a16="http://schemas.microsoft.com/office/drawing/2014/main" id="{9500BA2D-E217-0935-428A-6853FF51D8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2802" y="259345"/>
            <a:ext cx="8080849" cy="608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800311D-741C-7DAE-D33B-75113A0A0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824" y="2044995"/>
            <a:ext cx="8642351" cy="1444131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Times New Roman"/>
              </a:rPr>
              <a:t>Smart Airport Security — AI Face Recognition at the Boarding Gate</a:t>
            </a:r>
            <a:br>
              <a:rPr lang="en-US" sz="3600" b="1" dirty="0">
                <a:solidFill>
                  <a:srgbClr val="C00000"/>
                </a:solidFill>
                <a:latin typeface="Times New Roman"/>
              </a:rPr>
            </a:br>
            <a:endParaRPr lang="en-IN" sz="36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F26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63040" y="411480"/>
            <a:ext cx="265008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1E3A5F"/>
                </a:solidFill>
                <a:latin typeface="Times New Roman"/>
              </a:rPr>
              <a:t>INTRODUCTION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1051560"/>
            <a:ext cx="1097280" cy="45720"/>
          </a:xfrm>
          <a:prstGeom prst="rect">
            <a:avLst/>
          </a:prstGeom>
          <a:solidFill>
            <a:srgbClr val="F26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Times New Roman"/>
              </a:rPr>
              <a:t>1 /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234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rgbClr val="4CA1AF"/>
                </a:solidFill>
                <a:latin typeface="Times New Roman"/>
              </a:rPr>
              <a:t>Smart Airport Security — AI Face Recognition at the Boarding 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5852160" cy="3972241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600" b="0" dirty="0">
                <a:solidFill>
                  <a:srgbClr val="222B3A"/>
                </a:solidFill>
                <a:latin typeface="Times New Roman"/>
              </a:rPr>
              <a:t>Modern airports handle millions of passengers each day, and manual identity checks at every touchpoint slow the entire journey.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600" b="0" dirty="0">
                <a:solidFill>
                  <a:srgbClr val="222B3A"/>
                </a:solidFill>
                <a:latin typeface="Times New Roman"/>
              </a:rPr>
              <a:t>A startup can deploy an AI face recognition pipeline that verifies a </a:t>
            </a:r>
            <a:r>
              <a:rPr sz="1600" b="0" dirty="0" err="1">
                <a:solidFill>
                  <a:srgbClr val="222B3A"/>
                </a:solidFill>
                <a:latin typeface="Times New Roman"/>
              </a:rPr>
              <a:t>traveller's</a:t>
            </a:r>
            <a:r>
              <a:rPr sz="1600" b="0" dirty="0">
                <a:solidFill>
                  <a:srgbClr val="222B3A"/>
                </a:solidFill>
                <a:latin typeface="Times New Roman"/>
              </a:rPr>
              <a:t> identity in under a second — from check-in to the boarding gate.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600" b="0" dirty="0">
                <a:solidFill>
                  <a:srgbClr val="222B3A"/>
                </a:solidFill>
                <a:latin typeface="Times New Roman"/>
              </a:rPr>
              <a:t>The solution relies on three connected pillars: image processing to clean the captured frame, computer vision levels to interpret it, and camera models to guarantee optical accuracy.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600" b="0" dirty="0">
                <a:solidFill>
                  <a:srgbClr val="222B3A"/>
                </a:solidFill>
                <a:latin typeface="Times New Roman"/>
              </a:rPr>
              <a:t>Together they replace slow document inspection with a contactless, secure and scalable screening experience.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96200" y="2082800"/>
            <a:ext cx="3916680" cy="980440"/>
          </a:xfrm>
          <a:prstGeom prst="roundRect">
            <a:avLst/>
          </a:prstGeom>
          <a:solidFill>
            <a:srgbClr val="F26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Times New Roman"/>
              </a:rPr>
              <a:t>&lt; 1 s</a:t>
            </a:r>
          </a:p>
          <a:p>
            <a:r>
              <a:rPr sz="1200">
                <a:solidFill>
                  <a:srgbClr val="FFFFFF"/>
                </a:solidFill>
                <a:latin typeface="Times New Roman"/>
              </a:rPr>
              <a:t>Verification 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96198" y="3545840"/>
            <a:ext cx="3916681" cy="1026160"/>
          </a:xfrm>
          <a:prstGeom prst="roundRect">
            <a:avLst/>
          </a:prstGeom>
          <a:solidFill>
            <a:srgbClr val="4CA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 algn="ctr"/>
            <a:r>
              <a:rPr sz="2800" b="1" dirty="0">
                <a:solidFill>
                  <a:srgbClr val="FFFFFF"/>
                </a:solidFill>
                <a:latin typeface="Times New Roman"/>
              </a:rPr>
              <a:t>99%+</a:t>
            </a:r>
          </a:p>
          <a:p>
            <a:r>
              <a:rPr sz="1200" dirty="0">
                <a:solidFill>
                  <a:srgbClr val="FFFFFF"/>
                </a:solidFill>
                <a:latin typeface="Times New Roman"/>
              </a:rPr>
              <a:t>Match accuracy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96200" y="5054598"/>
            <a:ext cx="3916680" cy="102616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 algn="ctr"/>
            <a:r>
              <a:rPr sz="2800" b="1" dirty="0">
                <a:solidFill>
                  <a:srgbClr val="FFFFFF"/>
                </a:solidFill>
                <a:latin typeface="Times New Roman"/>
              </a:rPr>
              <a:t>24 / 7</a:t>
            </a:r>
          </a:p>
          <a:p>
            <a:r>
              <a:rPr sz="1200" dirty="0">
                <a:solidFill>
                  <a:srgbClr val="FFFFFF"/>
                </a:solidFill>
                <a:latin typeface="Times New Roman"/>
              </a:rPr>
              <a:t>Continuous screening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F26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63040" y="411480"/>
            <a:ext cx="355097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2400" b="1" dirty="0">
                <a:solidFill>
                  <a:srgbClr val="1E3A5F"/>
                </a:solidFill>
                <a:latin typeface="Times New Roman"/>
              </a:rPr>
              <a:t>PROPOSED</a:t>
            </a:r>
            <a:r>
              <a:rPr lang="en-IN" sz="2000" b="1" dirty="0">
                <a:solidFill>
                  <a:srgbClr val="1E3A5F"/>
                </a:solidFill>
                <a:latin typeface="Times New Roman"/>
              </a:rPr>
              <a:t> OBJECTIVES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1051560"/>
            <a:ext cx="1097280" cy="45720"/>
          </a:xfrm>
          <a:prstGeom prst="rect">
            <a:avLst/>
          </a:prstGeom>
          <a:solidFill>
            <a:srgbClr val="F26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Times New Roman"/>
              </a:rPr>
              <a:t>2 /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52320"/>
            <a:ext cx="3305387" cy="165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CA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1600" b="1" dirty="0">
                <a:solidFill>
                  <a:srgbClr val="F26419"/>
                </a:solidFill>
                <a:latin typeface="Times New Roman"/>
              </a:rPr>
              <a:t>01   </a:t>
            </a:r>
            <a:r>
              <a:rPr sz="1600" b="1" dirty="0">
                <a:solidFill>
                  <a:srgbClr val="1E3A5F"/>
                </a:solidFill>
                <a:latin typeface="Times New Roman"/>
              </a:rPr>
              <a:t>Image Processing</a:t>
            </a:r>
          </a:p>
          <a:p>
            <a:pPr>
              <a:spcBef>
                <a:spcPts val="600"/>
              </a:spcBef>
            </a:pPr>
            <a:r>
              <a:rPr sz="1200" dirty="0">
                <a:solidFill>
                  <a:srgbClr val="222B3A"/>
                </a:solidFill>
                <a:latin typeface="Times New Roman"/>
              </a:rPr>
              <a:t>Enhance captured frames with denoising, histogram </a:t>
            </a:r>
            <a:r>
              <a:rPr sz="1200" dirty="0" err="1">
                <a:solidFill>
                  <a:srgbClr val="222B3A"/>
                </a:solidFill>
                <a:latin typeface="Times New Roman"/>
              </a:rPr>
              <a:t>equalisation</a:t>
            </a:r>
            <a:r>
              <a:rPr sz="1200" dirty="0">
                <a:solidFill>
                  <a:srgbClr val="222B3A"/>
                </a:solidFill>
                <a:latin typeface="Times New Roman"/>
              </a:rPr>
              <a:t> and alignment so the recognition engine receives a clean, well-lit face.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052320"/>
            <a:ext cx="3474720" cy="165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CA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1600" b="1" dirty="0">
                <a:solidFill>
                  <a:srgbClr val="F26419"/>
                </a:solidFill>
                <a:latin typeface="Times New Roman"/>
              </a:rPr>
              <a:t>02   </a:t>
            </a:r>
            <a:r>
              <a:rPr sz="1600" b="1" dirty="0">
                <a:solidFill>
                  <a:srgbClr val="1E3A5F"/>
                </a:solidFill>
                <a:latin typeface="Times New Roman"/>
              </a:rPr>
              <a:t>Vision Levels</a:t>
            </a:r>
          </a:p>
          <a:p>
            <a:pPr>
              <a:spcBef>
                <a:spcPts val="600"/>
              </a:spcBef>
            </a:pPr>
            <a:r>
              <a:rPr sz="1200" dirty="0">
                <a:solidFill>
                  <a:srgbClr val="222B3A"/>
                </a:solidFill>
                <a:latin typeface="Times New Roman"/>
              </a:rPr>
              <a:t>Move data through low-level (pixels &amp; edges), mid-level (segmentation &amp; landmarks) and high-level (identity) analysis for reliable interpretation.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2052318"/>
            <a:ext cx="3474720" cy="165100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CA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1600" b="1">
                <a:solidFill>
                  <a:srgbClr val="F26419"/>
                </a:solidFill>
                <a:latin typeface="Times New Roman"/>
              </a:rPr>
              <a:t>03   </a:t>
            </a:r>
            <a:r>
              <a:rPr sz="1600" b="1">
                <a:solidFill>
                  <a:srgbClr val="1E3A5F"/>
                </a:solidFill>
                <a:latin typeface="Times New Roman"/>
              </a:rPr>
              <a:t>Camera Models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22B3A"/>
                </a:solidFill>
                <a:latin typeface="Times New Roman"/>
              </a:rPr>
              <a:t>Use calibrated pinhole and wide-angle IP camera models to correct lens distortion and estimate real-world face geometry.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21196"/>
            <a:ext cx="3305387" cy="165100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CA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1600" b="1" dirty="0">
                <a:solidFill>
                  <a:srgbClr val="F26419"/>
                </a:solidFill>
                <a:latin typeface="Times New Roman"/>
              </a:rPr>
              <a:t>04   </a:t>
            </a:r>
            <a:r>
              <a:rPr sz="1600" b="1" dirty="0">
                <a:solidFill>
                  <a:srgbClr val="1E3A5F"/>
                </a:solidFill>
                <a:latin typeface="Times New Roman"/>
              </a:rPr>
              <a:t>Real-Time Screening</a:t>
            </a:r>
          </a:p>
          <a:p>
            <a:pPr>
              <a:spcBef>
                <a:spcPts val="600"/>
              </a:spcBef>
            </a:pPr>
            <a:r>
              <a:rPr sz="1200" dirty="0">
                <a:solidFill>
                  <a:srgbClr val="222B3A"/>
                </a:solidFill>
                <a:latin typeface="Times New Roman"/>
              </a:rPr>
              <a:t>Match a live face against the airline's passenger and watchlist database within one second at the boarding gate.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4521198"/>
            <a:ext cx="3581705" cy="165100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CA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1600" b="1" dirty="0">
                <a:solidFill>
                  <a:srgbClr val="F26419"/>
                </a:solidFill>
                <a:latin typeface="Times New Roman"/>
              </a:rPr>
              <a:t>05   </a:t>
            </a:r>
            <a:r>
              <a:rPr sz="1600" b="1" dirty="0">
                <a:solidFill>
                  <a:srgbClr val="1E3A5F"/>
                </a:solidFill>
                <a:latin typeface="Times New Roman"/>
              </a:rPr>
              <a:t>Privacy &amp; Compliance</a:t>
            </a:r>
          </a:p>
          <a:p>
            <a:pPr>
              <a:spcBef>
                <a:spcPts val="600"/>
              </a:spcBef>
            </a:pPr>
            <a:r>
              <a:rPr sz="1200" dirty="0">
                <a:solidFill>
                  <a:srgbClr val="222B3A"/>
                </a:solidFill>
                <a:latin typeface="Times New Roman"/>
              </a:rPr>
              <a:t>Process biometric templates on secure edge devices and follow DPDP / GDPR data-retention rules.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4521198"/>
            <a:ext cx="3474720" cy="165100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CA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1600" b="1" dirty="0">
                <a:solidFill>
                  <a:srgbClr val="F26419"/>
                </a:solidFill>
                <a:latin typeface="Times New Roman"/>
              </a:rPr>
              <a:t>06   </a:t>
            </a:r>
            <a:r>
              <a:rPr sz="1600" b="1" dirty="0">
                <a:solidFill>
                  <a:srgbClr val="1E3A5F"/>
                </a:solidFill>
                <a:latin typeface="Times New Roman"/>
              </a:rPr>
              <a:t>Scalable Deployment</a:t>
            </a:r>
          </a:p>
          <a:p>
            <a:pPr>
              <a:spcBef>
                <a:spcPts val="600"/>
              </a:spcBef>
            </a:pPr>
            <a:r>
              <a:rPr sz="1200" dirty="0">
                <a:solidFill>
                  <a:srgbClr val="222B3A"/>
                </a:solidFill>
                <a:latin typeface="Times New Roman"/>
              </a:rPr>
              <a:t>Design a modular pipeline that runs across check-in kiosks, immigration counters and boarding gates.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F26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40080" y="411480"/>
            <a:ext cx="640080" cy="640080"/>
          </a:xfrm>
          <a:prstGeom prst="ellipse">
            <a:avLst/>
          </a:prstGeom>
          <a:solidFill>
            <a:srgbClr val="F26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11480"/>
            <a:ext cx="564513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1E3A5F"/>
                </a:solidFill>
                <a:latin typeface="Times New Roman"/>
              </a:rPr>
              <a:t>SYSTEM ARCHITECTURE DIAGRAM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1051560"/>
            <a:ext cx="1097280" cy="45720"/>
          </a:xfrm>
          <a:prstGeom prst="rect">
            <a:avLst/>
          </a:prstGeom>
          <a:solidFill>
            <a:srgbClr val="F26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Times New Roman"/>
              </a:rPr>
              <a:t>3 / 5</a:t>
            </a:r>
          </a:p>
        </p:txBody>
      </p:sp>
      <p:pic>
        <p:nvPicPr>
          <p:cNvPr id="10" name="Picture 9" descr="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8686800" cy="403226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509760" y="1463040"/>
            <a:ext cx="2331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lnSpc>
                <a:spcPct val="150000"/>
              </a:lnSpc>
            </a:pPr>
            <a:r>
              <a:rPr sz="1600" b="1" dirty="0">
                <a:solidFill>
                  <a:srgbClr val="1E3A5F"/>
                </a:solidFill>
                <a:latin typeface="Times New Roman"/>
              </a:rPr>
              <a:t>Pipeline Flow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sz="1200" dirty="0">
                <a:solidFill>
                  <a:srgbClr val="222B3A"/>
                </a:solidFill>
                <a:latin typeface="Times New Roman"/>
              </a:rPr>
              <a:t>•  Camera captures live video at the gate.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sz="1200" dirty="0">
                <a:solidFill>
                  <a:srgbClr val="222B3A"/>
                </a:solidFill>
                <a:latin typeface="Times New Roman"/>
              </a:rPr>
              <a:t>•  Frames are pre-processed (denoise, align, </a:t>
            </a:r>
            <a:r>
              <a:rPr sz="1200" dirty="0" err="1">
                <a:solidFill>
                  <a:srgbClr val="222B3A"/>
                </a:solidFill>
                <a:latin typeface="Times New Roman"/>
              </a:rPr>
              <a:t>normalise</a:t>
            </a:r>
            <a:r>
              <a:rPr sz="1200" dirty="0">
                <a:solidFill>
                  <a:srgbClr val="222B3A"/>
                </a:solidFill>
                <a:latin typeface="Times New Roman"/>
              </a:rPr>
              <a:t>).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sz="1200" dirty="0">
                <a:solidFill>
                  <a:srgbClr val="222B3A"/>
                </a:solidFill>
                <a:latin typeface="Times New Roman"/>
              </a:rPr>
              <a:t>•  MTCNN detects the face region.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sz="1200" dirty="0">
                <a:solidFill>
                  <a:srgbClr val="222B3A"/>
                </a:solidFill>
                <a:latin typeface="Times New Roman"/>
              </a:rPr>
              <a:t>•  </a:t>
            </a:r>
            <a:r>
              <a:rPr sz="1200" dirty="0" err="1">
                <a:solidFill>
                  <a:srgbClr val="222B3A"/>
                </a:solidFill>
                <a:latin typeface="Times New Roman"/>
              </a:rPr>
              <a:t>FaceNet</a:t>
            </a:r>
            <a:r>
              <a:rPr sz="1200" dirty="0">
                <a:solidFill>
                  <a:srgbClr val="222B3A"/>
                </a:solidFill>
                <a:latin typeface="Times New Roman"/>
              </a:rPr>
              <a:t> extracts a 128-D embedding.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sz="1200" dirty="0">
                <a:solidFill>
                  <a:srgbClr val="222B3A"/>
                </a:solidFill>
                <a:latin typeface="Times New Roman"/>
              </a:rPr>
              <a:t>•  Embedding matched against watchlist DB.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sz="1200" dirty="0">
                <a:solidFill>
                  <a:srgbClr val="222B3A"/>
                </a:solidFill>
                <a:latin typeface="Times New Roman"/>
              </a:rPr>
              <a:t>•  Result triggers gate access or alert.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F26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63040" y="411480"/>
            <a:ext cx="458234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1E3A5F"/>
                </a:solidFill>
                <a:latin typeface="Times New Roman"/>
              </a:rPr>
              <a:t>MODELS AND RECOGNITION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1051560"/>
            <a:ext cx="1097280" cy="45720"/>
          </a:xfrm>
          <a:prstGeom prst="rect">
            <a:avLst/>
          </a:prstGeom>
          <a:solidFill>
            <a:srgbClr val="F26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Times New Roman"/>
              </a:rPr>
              <a:t>4 / 5</a:t>
            </a:r>
          </a:p>
        </p:txBody>
      </p:sp>
      <p:pic>
        <p:nvPicPr>
          <p:cNvPr id="10" name="Picture 9" descr="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6583680" cy="383058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06640" y="1554480"/>
            <a:ext cx="4389120" cy="40011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</a:pPr>
            <a:r>
              <a:rPr sz="2000" b="1" dirty="0">
                <a:solidFill>
                  <a:srgbClr val="1E3A5F"/>
                </a:solidFill>
                <a:latin typeface="Times New Roman"/>
              </a:rPr>
              <a:t>Chosen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011680"/>
            <a:ext cx="4389120" cy="35931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400" b="0" dirty="0">
                <a:solidFill>
                  <a:srgbClr val="222B3A"/>
                </a:solidFill>
                <a:latin typeface="Times New Roman"/>
              </a:rPr>
              <a:t>•  Detection – MTCNN handles multi-scale faces even at oblique gate angles.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400" b="0" dirty="0">
                <a:solidFill>
                  <a:srgbClr val="222B3A"/>
                </a:solidFill>
                <a:latin typeface="Times New Roman"/>
              </a:rPr>
              <a:t>•  Embedding – </a:t>
            </a:r>
            <a:r>
              <a:rPr sz="1400" b="0" dirty="0" err="1">
                <a:solidFill>
                  <a:srgbClr val="222B3A"/>
                </a:solidFill>
                <a:latin typeface="Times New Roman"/>
              </a:rPr>
              <a:t>FaceNet</a:t>
            </a:r>
            <a:r>
              <a:rPr sz="1400" b="0" dirty="0">
                <a:solidFill>
                  <a:srgbClr val="222B3A"/>
                </a:solidFill>
                <a:latin typeface="Times New Roman"/>
              </a:rPr>
              <a:t> / </a:t>
            </a:r>
            <a:r>
              <a:rPr sz="1400" b="0" dirty="0" err="1">
                <a:solidFill>
                  <a:srgbClr val="222B3A"/>
                </a:solidFill>
                <a:latin typeface="Times New Roman"/>
              </a:rPr>
              <a:t>ArcFace</a:t>
            </a:r>
            <a:r>
              <a:rPr sz="1400" b="0" dirty="0">
                <a:solidFill>
                  <a:srgbClr val="222B3A"/>
                </a:solidFill>
                <a:latin typeface="Times New Roman"/>
              </a:rPr>
              <a:t> produces a compact 128-D vector per face.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400" b="0" dirty="0">
                <a:solidFill>
                  <a:srgbClr val="222B3A"/>
                </a:solidFill>
                <a:latin typeface="Times New Roman"/>
              </a:rPr>
              <a:t>•  Matching – Cosine similarity against the encrypted passenger vector store.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400" b="0" dirty="0">
                <a:solidFill>
                  <a:srgbClr val="222B3A"/>
                </a:solidFill>
                <a:latin typeface="Times New Roman"/>
              </a:rPr>
              <a:t>•  Camera – Pinhole model for kiosks, wide-angle for gate CCTV, calibrated with a chessboard pattern.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400" b="0" dirty="0">
                <a:solidFill>
                  <a:srgbClr val="222B3A"/>
                </a:solidFill>
                <a:latin typeface="Times New Roman"/>
              </a:rPr>
              <a:t>•  Threshold – 0.68 similarity balances false-accept and false-reject at the gate.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60704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Times New Roman"/>
              </a:rPr>
              <a:t>5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26419"/>
                </a:solidFill>
                <a:latin typeface="Times New Roman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371600" cy="45720"/>
          </a:xfrm>
          <a:prstGeom prst="rect">
            <a:avLst/>
          </a:prstGeom>
          <a:solidFill>
            <a:srgbClr val="F26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85800" y="1737991"/>
            <a:ext cx="256032" cy="256032"/>
          </a:xfrm>
          <a:prstGeom prst="ellipse">
            <a:avLst/>
          </a:prstGeom>
          <a:solidFill>
            <a:srgbClr val="F26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10607040" cy="87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000" b="1" dirty="0">
                <a:solidFill>
                  <a:srgbClr val="4CA1AF"/>
                </a:solidFill>
                <a:latin typeface="Times New Roman"/>
              </a:rPr>
              <a:t>Image Processing</a:t>
            </a:r>
          </a:p>
          <a:p>
            <a:pPr>
              <a:lnSpc>
                <a:spcPct val="150000"/>
              </a:lnSpc>
            </a:pPr>
            <a:r>
              <a:rPr sz="1600" dirty="0">
                <a:latin typeface="Times New Roman"/>
              </a:rPr>
              <a:t>Cleans and </a:t>
            </a:r>
            <a:r>
              <a:rPr sz="1600" dirty="0" err="1">
                <a:latin typeface="Times New Roman"/>
              </a:rPr>
              <a:t>standardises</a:t>
            </a:r>
            <a:r>
              <a:rPr sz="1600" dirty="0">
                <a:latin typeface="Times New Roman"/>
              </a:rPr>
              <a:t> every captured frame so face features stay sharp under changing airport lighting</a:t>
            </a:r>
            <a:r>
              <a:rPr sz="1600" dirty="0">
                <a:solidFill>
                  <a:srgbClr val="F4F7FB"/>
                </a:solidFill>
                <a:latin typeface="Times New Roman"/>
              </a:rPr>
              <a:t>.</a:t>
            </a:r>
          </a:p>
        </p:txBody>
      </p:sp>
      <p:sp>
        <p:nvSpPr>
          <p:cNvPr id="8" name="Oval 7"/>
          <p:cNvSpPr/>
          <p:nvPr/>
        </p:nvSpPr>
        <p:spPr>
          <a:xfrm>
            <a:off x="695283" y="2926711"/>
            <a:ext cx="256032" cy="256032"/>
          </a:xfrm>
          <a:prstGeom prst="ellipse">
            <a:avLst/>
          </a:prstGeom>
          <a:solidFill>
            <a:srgbClr val="F26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10607040" cy="87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000" b="1" dirty="0">
                <a:solidFill>
                  <a:srgbClr val="4CA1AF"/>
                </a:solidFill>
                <a:latin typeface="Times New Roman"/>
              </a:rPr>
              <a:t>Vision Levels</a:t>
            </a:r>
          </a:p>
          <a:p>
            <a:pPr>
              <a:lnSpc>
                <a:spcPct val="150000"/>
              </a:lnSpc>
            </a:pPr>
            <a:r>
              <a:rPr sz="1600" dirty="0">
                <a:latin typeface="Times New Roman"/>
              </a:rPr>
              <a:t>Low, mid and high-level analysis turn raw pixels into an identity decision the security system can trust</a:t>
            </a:r>
            <a:r>
              <a:rPr sz="1600" dirty="0">
                <a:solidFill>
                  <a:srgbClr val="F4F7FB"/>
                </a:solidFill>
                <a:latin typeface="Times New Roman"/>
              </a:rPr>
              <a:t>.</a:t>
            </a:r>
          </a:p>
        </p:txBody>
      </p:sp>
      <p:sp>
        <p:nvSpPr>
          <p:cNvPr id="10" name="Oval 9"/>
          <p:cNvSpPr/>
          <p:nvPr/>
        </p:nvSpPr>
        <p:spPr>
          <a:xfrm>
            <a:off x="696299" y="4109611"/>
            <a:ext cx="256032" cy="256032"/>
          </a:xfrm>
          <a:prstGeom prst="ellipse">
            <a:avLst/>
          </a:prstGeom>
          <a:solidFill>
            <a:srgbClr val="F26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3931920"/>
            <a:ext cx="10607040" cy="87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000" b="1" dirty="0">
                <a:solidFill>
                  <a:srgbClr val="4CA1AF"/>
                </a:solidFill>
                <a:latin typeface="Times New Roman"/>
              </a:rPr>
              <a:t>Camera Models</a:t>
            </a:r>
          </a:p>
          <a:p>
            <a:pPr>
              <a:lnSpc>
                <a:spcPct val="150000"/>
              </a:lnSpc>
            </a:pPr>
            <a:r>
              <a:rPr sz="1600" dirty="0">
                <a:latin typeface="Times New Roman"/>
              </a:rPr>
              <a:t>Calibrated pinhole and wide-angle models remove distortion and give accurate spatial context for each face</a:t>
            </a:r>
            <a:r>
              <a:rPr sz="1600" dirty="0">
                <a:solidFill>
                  <a:srgbClr val="F4F7FB"/>
                </a:solidFill>
                <a:latin typeface="Times New Roman"/>
              </a:rPr>
              <a:t>.</a:t>
            </a:r>
          </a:p>
        </p:txBody>
      </p:sp>
      <p:sp>
        <p:nvSpPr>
          <p:cNvPr id="12" name="Oval 11"/>
          <p:cNvSpPr/>
          <p:nvPr/>
        </p:nvSpPr>
        <p:spPr>
          <a:xfrm>
            <a:off x="696299" y="5304151"/>
            <a:ext cx="256032" cy="256032"/>
          </a:xfrm>
          <a:prstGeom prst="ellipse">
            <a:avLst/>
          </a:prstGeom>
          <a:solidFill>
            <a:srgbClr val="F26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1097280" y="5120640"/>
            <a:ext cx="10607040" cy="87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000" b="1" dirty="0">
                <a:solidFill>
                  <a:srgbClr val="4CA1AF"/>
                </a:solidFill>
                <a:latin typeface="Times New Roman"/>
              </a:rPr>
              <a:t>Combined Impact</a:t>
            </a:r>
          </a:p>
          <a:p>
            <a:pPr>
              <a:lnSpc>
                <a:spcPct val="150000"/>
              </a:lnSpc>
            </a:pPr>
            <a:r>
              <a:rPr sz="1600" dirty="0">
                <a:latin typeface="Times New Roman"/>
              </a:rPr>
              <a:t>The startup delivers contactless, sub-second boarding-gate authentication that scales across the entire terminal</a:t>
            </a:r>
            <a:r>
              <a:rPr sz="1600" dirty="0">
                <a:solidFill>
                  <a:srgbClr val="F4F7FB"/>
                </a:solidFill>
                <a:latin typeface="Times New Roman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506</Words>
  <Application>Microsoft Office PowerPoint</Application>
  <PresentationFormat>Widescreen</PresentationFormat>
  <Paragraphs>63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 New Roman</vt:lpstr>
      <vt:lpstr>Office Theme</vt:lpstr>
      <vt:lpstr>Smart Airport Security — AI Face Recognition at the Boarding Gate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Tilak Sai</dc:creator>
  <cp:keywords/>
  <dc:description>generated using python-pptx</dc:description>
  <cp:lastModifiedBy>Tilak Sai</cp:lastModifiedBy>
  <cp:revision>3</cp:revision>
  <dcterms:created xsi:type="dcterms:W3CDTF">2013-01-27T09:14:16Z</dcterms:created>
  <dcterms:modified xsi:type="dcterms:W3CDTF">2026-07-16T08:33:28Z</dcterms:modified>
  <cp:category/>
</cp:coreProperties>
</file>